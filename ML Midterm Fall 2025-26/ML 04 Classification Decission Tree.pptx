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" ContentType="application/vnd.ms-excel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9" r:id="rId3"/>
    <p:sldId id="300" r:id="rId4"/>
    <p:sldId id="301" r:id="rId5"/>
    <p:sldId id="333" r:id="rId6"/>
    <p:sldId id="303" r:id="rId7"/>
    <p:sldId id="304" r:id="rId8"/>
    <p:sldId id="305" r:id="rId9"/>
    <p:sldId id="308" r:id="rId10"/>
    <p:sldId id="309" r:id="rId11"/>
    <p:sldId id="307" r:id="rId12"/>
    <p:sldId id="310" r:id="rId13"/>
    <p:sldId id="311" r:id="rId14"/>
    <p:sldId id="306" r:id="rId15"/>
    <p:sldId id="312" r:id="rId16"/>
    <p:sldId id="313" r:id="rId17"/>
    <p:sldId id="318" r:id="rId18"/>
    <p:sldId id="320" r:id="rId19"/>
    <p:sldId id="321" r:id="rId20"/>
    <p:sldId id="322" r:id="rId21"/>
    <p:sldId id="319" r:id="rId22"/>
    <p:sldId id="338" r:id="rId23"/>
    <p:sldId id="323" r:id="rId24"/>
    <p:sldId id="337" r:id="rId25"/>
    <p:sldId id="331" r:id="rId26"/>
    <p:sldId id="332" r:id="rId27"/>
    <p:sldId id="334" r:id="rId28"/>
    <p:sldId id="335" r:id="rId29"/>
    <p:sldId id="336" r:id="rId30"/>
    <p:sldId id="340" r:id="rId31"/>
    <p:sldId id="341" r:id="rId32"/>
    <p:sldId id="342" r:id="rId33"/>
    <p:sldId id="343" r:id="rId34"/>
    <p:sldId id="339" r:id="rId35"/>
    <p:sldId id="345" r:id="rId36"/>
    <p:sldId id="346" r:id="rId37"/>
    <p:sldId id="347" r:id="rId38"/>
    <p:sldId id="348" r:id="rId39"/>
    <p:sldId id="349" r:id="rId40"/>
    <p:sldId id="350" r:id="rId41"/>
    <p:sldId id="344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10" d="100"/>
          <a:sy n="110" d="100"/>
        </p:scale>
        <p:origin x="-1632" y="-96"/>
      </p:cViewPr>
      <p:guideLst>
        <p:guide orient="horz" pos="2160"/>
        <p:guide pos="29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8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2C4CB-14E1-43EC-9E25-77CFC75FDBE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02EF3-4937-48F5-B6FA-9356B5FF026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1.xml"/><Relationship Id="rId4" Type="http://schemas.openxmlformats.org/officeDocument/2006/relationships/oleObject" Target="../embeddings/oleObject3.bin"/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emf"/><Relationship Id="rId2" Type="http://schemas.openxmlformats.org/officeDocument/2006/relationships/oleObject" Target="../embeddings/Workbook1.xls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6.bin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7.bin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8.bin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9.bin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10.bin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emf"/><Relationship Id="rId2" Type="http://schemas.openxmlformats.org/officeDocument/2006/relationships/oleObject" Target="../embeddings/Workbook2.xls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2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1.bin"/><Relationship Id="rId3" Type="http://schemas.openxmlformats.org/officeDocument/2006/relationships/image" Target="../media/image29.jpeg"/><Relationship Id="rId2" Type="http://schemas.openxmlformats.org/officeDocument/2006/relationships/image" Target="../media/image28.emf"/><Relationship Id="rId1" Type="http://schemas.openxmlformats.org/officeDocument/2006/relationships/oleObject" Target="../embeddings/Workbook3.xls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a popular supervised machine learning algorithm used for both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regression tasks. They work by learning simple decision rules inferred from the data features to predict a target label. 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Decision Tree is structured as a tree where each node represents a decision based on a feature of the data, and each branch represents an outcome of that decision.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root node is the topmost node, representing the first decision.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internal nodes are decision points, splitting based on feature values.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nodes are the endpoints representing the final prediction or output.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1024"/>
          <p:cNvGraphicFramePr/>
          <p:nvPr/>
        </p:nvGraphicFramePr>
        <p:xfrm>
          <a:off x="228600" y="990600"/>
          <a:ext cx="3951287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" name="Worksheet" r:id="rId1" imgW="5441315" imgH="4204335" progId="Excel.Sheet.8">
                  <p:embed/>
                </p:oleObj>
              </mc:Choice>
              <mc:Fallback>
                <p:oleObj name="Worksheet" r:id="rId1" imgW="5441315" imgH="4204335" progId="Excel.Sheet.8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990600"/>
                        <a:ext cx="3951287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022" y="3543300"/>
            <a:ext cx="6224555" cy="3462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8229600" cy="25908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algorithm 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 greedy algorithm):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is constructed in a </a:t>
            </a:r>
            <a:r>
              <a:rPr lang="en-US" sz="17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top-down recursive divide-and-conquer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manner</a:t>
            </a:r>
            <a:endParaRPr lang="en-US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start, all the training examples are at the root</a:t>
            </a:r>
            <a:endParaRPr lang="en-US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are categorical (if continuous-valued, they are discretized in advance)</a:t>
            </a:r>
            <a:endParaRPr lang="en-US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are partitioned recursively based on selected attributes</a:t>
            </a:r>
            <a:endParaRPr lang="en-US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attributes are selected based on a heuristic or statistical measure (e.g., </a:t>
            </a:r>
            <a:r>
              <a:rPr lang="en-US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0" y="3810000"/>
            <a:ext cx="5181600" cy="28826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ID3 (Iterative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Dichotomiser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3)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classic algorithm used to construct a Decision Tree, primarily for classification tasks. It was developed by Ross Quinlan and serves as one of the earliest algorithms in Decision Tree-based models. 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ID3 aims to create a Decision Tree by selecting the most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 feature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each step that best separates the data for classification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this by using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(based on entropy) as the criterion to determine the best feature to split on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Conditions for stopping partitioning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records have the same target class (pure leaf node).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more features to split on (terminate as a leaf node).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Reaching a specified maximum depth or minimum samples threshold to prevent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Attribute Selection Measure: Information Gain</a:t>
                </a:r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set of data instances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b="1" i="1" dirty="0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</m:d>
                  </m:oMath>
                </a14:m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number of data instances (14)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  <m:sub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=the probability that an arbitrary tuple in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belongs to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GB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GB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class yes is 1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GB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GB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</m:d>
                        </m:den>
                      </m:f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𝟏𝟒</m:t>
                          </m:r>
                        </m:den>
                      </m:f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GB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GB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</m:d>
                        </m:den>
                      </m:f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𝟏𝟒</m:t>
                          </m:r>
                        </m:den>
                      </m:f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1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" name="Worksheet" r:id="rId2" imgW="5441315" imgH="4204335" progId="Excel.Sheet.8">
                  <p:embed/>
                </p:oleObj>
              </mc:Choice>
              <mc:Fallback>
                <p:oleObj name="Worksheet" r:id="rId2" imgW="5441315" imgH="4204335" progId="Excel.Sheet.8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" name="Worksheet" r:id="rId4" imgW="5441315" imgH="4204335" progId="Excel.Sheet.8">
                  <p:embed/>
                </p:oleObj>
              </mc:Choice>
              <mc:Fallback>
                <p:oleObj name="Worksheet" r:id="rId4" imgW="5441315" imgH="4204335" progId="Excel.Sheet.8">
                  <p:embed/>
                  <p:pic>
                    <p:nvPicPr>
                      <p:cNvPr id="0" name="Picture 2258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/>
          <p:cNvSpPr/>
          <p:nvPr/>
        </p:nvSpPr>
        <p:spPr>
          <a:xfrm>
            <a:off x="8139023" y="17526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8153400" y="2119223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8183183" y="34290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8153400" y="41148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8153400" y="61722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8155456" y="2424023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8139023" y="2819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8133481" y="31242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8139023" y="3761117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8105754" y="4444042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8155456" y="48006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8133481" y="5105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8153400" y="5486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8167986" y="5794076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Expected information (entropy) needed to classify a tuple in D:</a:t>
                </a:r>
                <a:endParaRPr lang="en-US" sz="18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𝑰𝒏𝒇𝒐</m:t>
                      </m:r>
                      <m:d>
                        <m:dPr>
                          <m:ctrlP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</m:d>
                      <m:r>
                        <a:rPr lang="en-GB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𝒍𝒐𝒈</m:t>
                              </m:r>
                            </m:e>
                            <m:sub>
                              <m: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8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GB" sz="18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given data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𝑰𝒏𝒇𝒐</m:t>
                      </m:r>
                      <m:d>
                        <m:dPr>
                          <m:ctrlP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</m:d>
                      <m:r>
                        <a:rPr lang="en-GB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  <m:e>
                          <m:sSub>
                            <m:sSubPr>
                              <m:ctrlP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𝒍𝒐𝒈</m:t>
                              </m:r>
                            </m:e>
                            <m:sub>
                              <m: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8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GB" sz="18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GB" sz="1800" b="1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𝒍𝒐𝒈</m:t>
                          </m:r>
                        </m:e>
                        <m:sub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GB" sz="1800" b="1" i="1" dirty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800" b="1" i="1" dirty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GB" sz="1800" b="1" i="1" dirty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𝒍𝒐𝒈</m:t>
                          </m:r>
                        </m:e>
                        <m:sub>
                          <m:r>
                            <a:rPr lang="en-GB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GB" sz="1800" b="1" i="1" dirty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GB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GB" sz="1800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800" b="0" i="1" smtClean="0">
                              <a:solidFill>
                                <a:srgbClr val="00B050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func>
                        <m:funcPr>
                          <m:ctrlPr>
                            <a:rPr lang="en-GB" sz="1800" b="0" i="1" smtClean="0">
                              <a:solidFill>
                                <a:srgbClr val="00B050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8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GB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func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800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func>
                        <m:funcPr>
                          <m:ctrlPr>
                            <a:rPr lang="en-GB" sz="1800" i="1">
                              <a:solidFill>
                                <a:srgbClr val="FF0000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GB" sz="1800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func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940</m:t>
                      </m:r>
                    </m:oMath>
                  </m:oMathPara>
                </a14:m>
                <a:endParaRPr lang="en-GB" sz="1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1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Worksheet" r:id="rId2" imgW="5441315" imgH="4204335" progId="Excel.Sheet.8">
                  <p:embed/>
                </p:oleObj>
              </mc:Choice>
              <mc:Fallback>
                <p:oleObj name="Worksheet" r:id="rId2" imgW="5441315" imgH="4204335" progId="Excel.Sheet.8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Oval 5"/>
          <p:cNvSpPr/>
          <p:nvPr/>
        </p:nvSpPr>
        <p:spPr>
          <a:xfrm>
            <a:off x="8139023" y="17526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8153400" y="2119223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8183183" y="34290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8153400" y="41148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8153400" y="61722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8155456" y="2424023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8139023" y="2819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8133481" y="31242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8139023" y="3761117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8105754" y="4444042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8155456" y="48006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8133481" y="5105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8153400" y="5486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8167986" y="5794076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needed (after using A to split D into v partitions)</a:t>
                </a:r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GB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𝑎𝑔𝑒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 smtClean="0">
                              <a:solidFill>
                                <a:srgbClr val="00B0F0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b="0" i="1" smtClean="0">
                              <a:solidFill>
                                <a:srgbClr val="00B0F0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1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alt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694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𝟓</m:t>
                        </m:r>
                      </m:num>
                      <m:den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𝟏𝟒</m:t>
                        </m:r>
                      </m:den>
                    </m:f>
                    <m:r>
                      <a:rPr lang="en-GB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𝑰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means “age &lt;=30” has 5 out of 14 samples, with 2 yes’es  and 3 no’s. 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I(2,3)= -2/5log2/5-3/5log3/5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1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8" name="Worksheet" r:id="rId2" imgW="5441315" imgH="4204335" progId="Excel.Sheet.8">
                  <p:embed/>
                </p:oleObj>
              </mc:Choice>
              <mc:Fallback>
                <p:oleObj name="Worksheet" r:id="rId2" imgW="5441315" imgH="4204335" progId="Excel.Sheet.8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val 3"/>
          <p:cNvSpPr/>
          <p:nvPr/>
        </p:nvSpPr>
        <p:spPr>
          <a:xfrm>
            <a:off x="8153400" y="17526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8142514" y="20574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8142514" y="4093029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8142514" y="4430486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8142514" y="5116286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4648200" y="1752600"/>
            <a:ext cx="533400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4648200" y="2068902"/>
            <a:ext cx="533400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4635260" y="4125686"/>
            <a:ext cx="533400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4630947" y="4430486"/>
            <a:ext cx="533400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4630947" y="5116286"/>
            <a:ext cx="533400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needed (after using A to split D into v partitions)</a:t>
                </a:r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GB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𝑎𝑔𝑒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 smtClean="0">
                              <a:solidFill>
                                <a:srgbClr val="00B0F0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rgbClr val="00B0F0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en-GB" sz="1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694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GB" sz="1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𝟒</m:t>
                        </m:r>
                      </m:num>
                      <m:den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𝟏𝟒</m:t>
                        </m:r>
                      </m:den>
                    </m:f>
                    <m:r>
                      <a:rPr lang="en-GB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𝑰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means “age &lt;=31 to 40” has 4 out of 14 samples, with 4 yes’es  and 0 no’s. I(4,0)=-4/4log4/4-0/4log0/4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1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" name="Worksheet" r:id="rId2" imgW="5236210" imgH="4045585" progId="Excel.Sheet.8">
                  <p:embed/>
                </p:oleObj>
              </mc:Choice>
              <mc:Fallback>
                <p:oleObj name="Worksheet" r:id="rId2" imgW="5236210" imgH="4045585" progId="Excel.Sheet.8">
                  <p:embed/>
                  <p:pic>
                    <p:nvPicPr>
                      <p:cNvPr id="0" name="Picture 7276"/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val 3"/>
          <p:cNvSpPr/>
          <p:nvPr/>
        </p:nvSpPr>
        <p:spPr>
          <a:xfrm>
            <a:off x="8142514" y="2438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8142514" y="3788229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8135325" y="5457029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8135325" y="57912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4572000" y="2428336"/>
            <a:ext cx="762000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4572000" y="3788229"/>
            <a:ext cx="762000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4572000" y="5457029"/>
            <a:ext cx="762000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4572000" y="5791200"/>
            <a:ext cx="762000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needed (after using A to split D into v partitions)</a:t>
                </a:r>
                <a:endParaRPr lang="en-US" sz="18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GB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𝑎𝑔𝑒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 smtClean="0">
                              <a:solidFill>
                                <a:srgbClr val="00B0F0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rgbClr val="00B0F0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00B0F0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GB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solidFill>
                                <a:srgbClr val="00B0F0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694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𝟓</m:t>
                        </m:r>
                      </m:num>
                      <m:den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𝟏𝟒</m:t>
                        </m:r>
                      </m:den>
                    </m:f>
                    <m:r>
                      <a:rPr lang="en-GB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𝑰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means “age &gt;40” has 5 out of 14 samples, with 3 yes’es  and 2 no’s. 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I(3,2)=-3/5log3/5-2/5log2/5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1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2" name="Worksheet" r:id="rId2" imgW="5441315" imgH="4204335" progId="Excel.Sheet.8">
                  <p:embed/>
                </p:oleObj>
              </mc:Choice>
              <mc:Fallback>
                <p:oleObj name="Worksheet" r:id="rId2" imgW="5441315" imgH="4204335" progId="Excel.Sheet.8">
                  <p:embed/>
                  <p:pic>
                    <p:nvPicPr>
                      <p:cNvPr id="0" name="Picture 829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val 3"/>
          <p:cNvSpPr/>
          <p:nvPr/>
        </p:nvSpPr>
        <p:spPr>
          <a:xfrm>
            <a:off x="8142514" y="27432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8142514" y="31242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8142514" y="34290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8118072" y="48006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8124028" y="61722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4572000" y="2773392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4572000" y="3124200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4561936" y="3429000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4606712" y="4758905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4580833" y="6139132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needed (after using A to split D into v partitions)</a:t>
                </a:r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GB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Similarly</a:t>
                </a:r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𝑖𝑛𝑐𝑜𝑚𝑒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911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1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" name="Worksheet" r:id="rId2" imgW="5441315" imgH="4204335" progId="Excel.Sheet.8">
                  <p:embed/>
                </p:oleObj>
              </mc:Choice>
              <mc:Fallback>
                <p:oleObj name="Worksheet" r:id="rId2" imgW="5441315" imgH="4204335" progId="Excel.Sheet.8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Oval 9"/>
          <p:cNvSpPr/>
          <p:nvPr/>
        </p:nvSpPr>
        <p:spPr>
          <a:xfrm>
            <a:off x="5257800" y="1752600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5257800" y="2133600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5257800" y="2438400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5276491" y="5791200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8142514" y="17526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8142514" y="2107721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8142514" y="2438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8142514" y="57912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needed (after using A to split D into v partitions)</a:t>
                </a:r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GB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Similarly</a:t>
                </a:r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𝑖𝑛𝑐𝑜𝑚𝑒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911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1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8" name="Worksheet" r:id="rId2" imgW="5441315" imgH="4204335" progId="Excel.Sheet.8">
                  <p:embed/>
                </p:oleObj>
              </mc:Choice>
              <mc:Fallback>
                <p:oleObj name="Worksheet" r:id="rId2" imgW="5441315" imgH="4204335" progId="Excel.Sheet.8">
                  <p:embed/>
                  <p:pic>
                    <p:nvPicPr>
                      <p:cNvPr id="0" name="Picture 930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Oval 5"/>
          <p:cNvSpPr/>
          <p:nvPr/>
        </p:nvSpPr>
        <p:spPr>
          <a:xfrm>
            <a:off x="5257800" y="2743200"/>
            <a:ext cx="762000" cy="381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5334000" y="4038600"/>
            <a:ext cx="762000" cy="381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5313872" y="4724400"/>
            <a:ext cx="762000" cy="381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5334000" y="5029200"/>
            <a:ext cx="762000" cy="381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5313872" y="5410200"/>
            <a:ext cx="762000" cy="381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5334000" y="6096000"/>
            <a:ext cx="762000" cy="381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8142514" y="27813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8142514" y="41148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8153400" y="48006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8133478" y="5105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8133478" y="5486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8163464" y="61722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needed (after using A to split D into v partitions)</a:t>
                </a:r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GB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Similarly</a:t>
                </a:r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𝑖𝑛𝑐𝑜𝑚𝑒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GB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911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1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2" name="Worksheet" r:id="rId2" imgW="5441315" imgH="4204335" progId="Excel.Sheet.8">
                  <p:embed/>
                </p:oleObj>
              </mc:Choice>
              <mc:Fallback>
                <p:oleObj name="Worksheet" r:id="rId2" imgW="5441315" imgH="4204335" progId="Excel.Sheet.8">
                  <p:embed/>
                  <p:pic>
                    <p:nvPicPr>
                      <p:cNvPr id="0" name="Picture 1033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Oval 5"/>
          <p:cNvSpPr/>
          <p:nvPr/>
        </p:nvSpPr>
        <p:spPr>
          <a:xfrm>
            <a:off x="5257800" y="3124200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5264989" y="3429000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5286761" y="3788434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8142514" y="3119887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8142514" y="3463506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8142514" y="3759679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8109446" y="44958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5309971" y="4475672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gained by branching on attribute A</a:t>
                </a:r>
                <a:endParaRPr lang="en-US" sz="18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𝑮𝒂𝒊𝒏</m:t>
                      </m:r>
                      <m:d>
                        <m:d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</m:d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𝑰𝒏𝒇𝒐</m:t>
                      </m:r>
                      <m:d>
                        <m:d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</m:d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𝑰𝒏𝒇𝒐</m:t>
                          </m:r>
                        </m:e>
                        <m:sub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𝑎𝑔𝑒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d>
                        <m:d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𝑎𝑔𝑒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940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694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246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𝑖𝑛𝑐𝑜𝑚𝑒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d>
                        <m:d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𝑖𝑛𝑐𝑜𝑚𝑒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940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911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029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Similarly,</a:t>
                </a:r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𝑠𝑡𝑢𝑑𝑒𝑛𝑡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151</m:t>
                      </m:r>
                    </m:oMath>
                  </m:oMathPara>
                </a14:m>
                <a:endParaRPr lang="en-US" sz="1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𝑐𝑟𝑒𝑑𝑖𝑡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𝑟𝑎𝑡𝑖𝑛𝑔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048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1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5" name="Worksheet" r:id="rId2" imgW="5441315" imgH="4204335" progId="Excel.Sheet.8">
                  <p:embed/>
                </p:oleObj>
              </mc:Choice>
              <mc:Fallback>
                <p:oleObj name="Worksheet" r:id="rId2" imgW="5441315" imgH="4204335" progId="Excel.Sheet.8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gained by branching on attribute A</a:t>
                </a:r>
                <a:endParaRPr lang="en-US" sz="18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𝑮𝒂𝒊𝒏</m:t>
                      </m:r>
                      <m:d>
                        <m:d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</m:d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𝑰𝒏𝒇𝒐</m:t>
                      </m:r>
                      <m:d>
                        <m:d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</m:d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𝑰𝒏𝒇𝒐</m:t>
                          </m:r>
                        </m:e>
                        <m:sub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𝑮𝒂𝒊𝒏</m:t>
                      </m:r>
                      <m:d>
                        <m:dPr>
                          <m:ctrlPr>
                            <a:rPr lang="en-GB" sz="1800" b="1" i="1" smtClean="0">
                              <a:solidFill>
                                <a:srgbClr val="00B050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𝒂𝒈𝒆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d>
                        <m:d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𝑎𝑔𝑒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940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694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GB" sz="1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1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𝟐𝟒𝟔</m:t>
                      </m:r>
                    </m:oMath>
                  </m:oMathPara>
                </a14:m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𝑖𝑛𝑐𝑜𝑚𝑒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d>
                        <m:d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𝑖𝑛𝑐𝑜𝑚𝑒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940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911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029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Similarly,</a:t>
                </a:r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𝑠𝑡𝑢𝑑𝑒𝑛𝑡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151</m:t>
                      </m:r>
                    </m:oMath>
                  </m:oMathPara>
                </a14:m>
                <a:endParaRPr lang="en-US" sz="1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𝑐𝑟𝑒𝑑𝑖𝑡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𝑟𝑎𝑡𝑖𝑛𝑔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048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1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4" name="Worksheet" r:id="rId2" imgW="5441315" imgH="4204335" progId="Excel.Sheet.8">
                  <p:embed/>
                </p:oleObj>
              </mc:Choice>
              <mc:Fallback>
                <p:oleObj name="Worksheet" r:id="rId2" imgW="5441315" imgH="4204335" progId="Excel.Sheet.8">
                  <p:embed/>
                  <p:pic>
                    <p:nvPicPr>
                      <p:cNvPr id="0" name="Picture 1135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own Arrow 3"/>
          <p:cNvSpPr/>
          <p:nvPr/>
        </p:nvSpPr>
        <p:spPr>
          <a:xfrm>
            <a:off x="4800600" y="1012166"/>
            <a:ext cx="304800" cy="435634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4038600" cy="533400"/>
          </a:xfrm>
        </p:spPr>
        <p:txBody>
          <a:bodyPr>
            <a:normAutofit/>
          </a:bodyPr>
          <a:lstStyle/>
          <a:p>
            <a:pPr algn="just"/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the first split is on the 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6172200" y="1172812"/>
            <a:ext cx="2667000" cy="1036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Next, repeat the same process with the other nodes with smaller dataset.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81200"/>
            <a:ext cx="622935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411753"/>
            <a:ext cx="2855194" cy="1447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371785"/>
            <a:ext cx="2876550" cy="1595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512817"/>
            <a:ext cx="2519063" cy="1348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3657600" cy="533400"/>
          </a:xfrm>
        </p:spPr>
        <p:txBody>
          <a:bodyPr>
            <a:normAutofit/>
          </a:bodyPr>
          <a:lstStyle/>
          <a:p>
            <a:pPr algn="just"/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split is on 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&lt;=30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57" y="2057400"/>
            <a:ext cx="8534400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302528"/>
            <a:ext cx="1295400" cy="818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104126"/>
            <a:ext cx="2190750" cy="1215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Subtitle 2"/>
          <p:cNvSpPr txBox="1"/>
          <p:nvPr/>
        </p:nvSpPr>
        <p:spPr>
          <a:xfrm>
            <a:off x="381000" y="5629453"/>
            <a:ext cx="2398143" cy="7801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are 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no further split here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ubtitle 2"/>
          <p:cNvSpPr txBox="1"/>
          <p:nvPr/>
        </p:nvSpPr>
        <p:spPr>
          <a:xfrm>
            <a:off x="3644661" y="5359426"/>
            <a:ext cx="2398143" cy="7801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are 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US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no further split here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5781675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741664"/>
            <a:ext cx="2133599" cy="1348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275" y="3200400"/>
            <a:ext cx="2190750" cy="1215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Subtitle 2"/>
          <p:cNvSpPr txBox="1"/>
          <p:nvPr/>
        </p:nvSpPr>
        <p:spPr>
          <a:xfrm>
            <a:off x="3644660" y="5181600"/>
            <a:ext cx="2398143" cy="7801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are 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US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no further split here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4114800" cy="533400"/>
          </a:xfrm>
        </p:spPr>
        <p:txBody>
          <a:bodyPr>
            <a:normAutofit/>
          </a:bodyPr>
          <a:lstStyle/>
          <a:p>
            <a:pPr algn="just"/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split is required at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31..40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438400"/>
            <a:ext cx="7058025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399" y="4038600"/>
            <a:ext cx="3158989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685800" y="1371600"/>
            <a:ext cx="41148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split is on </a:t>
            </a:r>
            <a:r>
              <a:rPr lang="en-US" sz="1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credit_rating </a:t>
            </a:r>
            <a:r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node </a:t>
            </a:r>
            <a:r>
              <a:rPr lang="en-US" sz="1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&gt;40 </a:t>
            </a:r>
            <a:endParaRPr lang="en-US" sz="18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28800"/>
            <a:ext cx="6057900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648200"/>
            <a:ext cx="2895599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529137"/>
            <a:ext cx="2600325" cy="116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752600"/>
            <a:ext cx="6238875" cy="353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819400"/>
            <a:ext cx="6238875" cy="353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762000" y="1115221"/>
            <a:ext cx="7543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Classify a new instance</a:t>
            </a:r>
            <a:endParaRPr lang="en-US" b="1" dirty="0" smtClean="0"/>
          </a:p>
          <a:p>
            <a:r>
              <a:rPr lang="en-US" dirty="0" smtClean="0"/>
              <a:t>(</a:t>
            </a:r>
            <a:r>
              <a:rPr lang="en-US" b="1" dirty="0" smtClean="0"/>
              <a:t>age</a:t>
            </a:r>
            <a:r>
              <a:rPr lang="en-US" dirty="0" smtClean="0"/>
              <a:t>: &lt;=30, </a:t>
            </a:r>
            <a:r>
              <a:rPr lang="en-US" b="1" dirty="0" smtClean="0"/>
              <a:t>income</a:t>
            </a:r>
            <a:r>
              <a:rPr lang="en-US" dirty="0" smtClean="0"/>
              <a:t>: low, </a:t>
            </a:r>
            <a:r>
              <a:rPr lang="en-US" b="1" dirty="0" smtClean="0"/>
              <a:t>student</a:t>
            </a:r>
            <a:r>
              <a:rPr lang="en-US" dirty="0" smtClean="0"/>
              <a:t>: yes, </a:t>
            </a:r>
            <a:r>
              <a:rPr lang="en-US" b="1" dirty="0" err="1" smtClean="0"/>
              <a:t>credit_rating</a:t>
            </a:r>
            <a:r>
              <a:rPr lang="en-US" dirty="0" smtClean="0"/>
              <a:t>: fair) = </a:t>
            </a:r>
            <a:r>
              <a:rPr lang="en-US" dirty="0" err="1" smtClean="0">
                <a:solidFill>
                  <a:srgbClr val="FF0000"/>
                </a:solidFill>
              </a:rPr>
              <a:t>buys_computer</a:t>
            </a:r>
            <a:r>
              <a:rPr lang="en-US" dirty="0" smtClean="0">
                <a:solidFill>
                  <a:srgbClr val="FF0000"/>
                </a:solidFill>
              </a:rPr>
              <a:t>?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286000" y="5105400"/>
            <a:ext cx="609600" cy="914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133600" y="2895600"/>
            <a:ext cx="1219200" cy="1295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76400"/>
            <a:ext cx="35052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133600"/>
            <a:ext cx="5065321" cy="284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762000" y="1115221"/>
            <a:ext cx="75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Exercise</a:t>
            </a:r>
            <a:endParaRPr 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95400" y="1581834"/>
            <a:ext cx="609600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b="1" dirty="0" smtClean="0"/>
          </a:p>
          <a:p>
            <a:r>
              <a:rPr lang="en-US" dirty="0" smtClean="0"/>
              <a:t>https</a:t>
            </a:r>
            <a:r>
              <a:rPr lang="en-US" dirty="0"/>
              <a:t>://colab.research.google.com/drive/1YsHFA55DZ5iQBNq7S11qoS-_WVYtxUYH?usp=sharing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7467600" cy="43434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Computing Information-Gain for Continuous-Valued Attributes</a:t>
                </a:r>
                <a:endParaRPr lang="en-US" sz="18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attribute 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continuous-valued attribute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Must determine the best split point for 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Sort the value A in increasing order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Typically, the midpoint between each pair of adjacent values is considered as a possible split point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00150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/>
                        <a:cs typeface="Times New Roman" panose="02020603050405020304" pitchFamily="18" charset="0"/>
                      </a:rPr>
                      <m:t>)/</m:t>
                    </m:r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en-US" sz="1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midpoint between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8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00150" lvl="2" indent="-285750" algn="just">
                  <a:buFont typeface="Arial" panose="020B0604020202020204" pitchFamily="34" charset="0"/>
                  <a:buChar char="•"/>
                </a:pPr>
                <a:r>
                  <a:rPr lang="en-US" sz="1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point with the minimum expected information requirement for 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selected as the split-point for 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Split: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set of tuples in 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satisfying 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≤ split-point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set of tuples in 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satisfying 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&gt; split-point</a:t>
                </a:r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7467600" cy="434340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Ratio for Attribute Selection (C4.5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 measure is biased towards attributes with many values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C4.5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 successor of ID3) uses gain ratio to overcome the problem (normalization to information gain)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GainRatio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= Gain(A)/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SplitInfo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gain_ratio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(income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0.029/1.557 = 0.019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/>
          <p:nvPr/>
        </p:nvGraphicFramePr>
        <p:xfrm>
          <a:off x="5638800" y="2438400"/>
          <a:ext cx="3432175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4" name="Worksheet" r:id="rId1" imgW="5764530" imgH="4204335" progId="Excel.Sheet.8">
                  <p:embed/>
                </p:oleObj>
              </mc:Choice>
              <mc:Fallback>
                <p:oleObj name="Worksheet" r:id="rId1" imgW="5764530" imgH="4204335" progId="Excel.Sheet.8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438400"/>
                        <a:ext cx="3432175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0" descr="8splitinf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848100"/>
            <a:ext cx="52546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09600" y="2973118"/>
          <a:ext cx="43434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5" name="Equation" r:id="rId4" imgW="2387600" imgH="457200" progId="Equation.3">
                  <p:embed/>
                </p:oleObj>
              </mc:Choice>
              <mc:Fallback>
                <p:oleObj name="Equation" r:id="rId4" imgW="2387600" imgH="457200" progId="Equation.3">
                  <p:embed/>
                  <p:pic>
                    <p:nvPicPr>
                      <p:cNvPr id="0" name="Object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973118"/>
                        <a:ext cx="434340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Gini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Index (CART-Classification and Regression Trees)</a:t>
            </a:r>
            <a:endParaRPr lang="en-US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Gain Ratio can sometimes exhibit a bias toward features with many unique values. For example, if a feature has many unique categories, Information Gain might prefer it because it creates more distinct subsets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 this,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Ratio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(an adaptation of Information Gain) is used in algorithms like C4.5 to counter this bias, but this additional step adds complexity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Gini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on the other hand, is less sensitive to the number of categories in a feature, reducing the need for an additional adjustment like Gain Ratio.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6057900" cy="113347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491" y="5657714"/>
            <a:ext cx="4724400" cy="116250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4478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Decision 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Trees</a:t>
            </a:r>
            <a:endParaRPr lang="en-US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happens when a Decision Tree model becomes too complex, fitting too closely to the noise and specific details of the training data, resulting in poor generalization to new data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Signs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decision tree that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will often have a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on the training set but performs poorly on the test set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Causes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Allowing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tree to grow too deep, with many nodes and branches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specific branches (splits) that capture the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peculiarities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training data rather than general patterns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Consequences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leads to a lack of model generalization, where the model captures random fluctuations instead of meaningful trends.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620895"/>
          </a:xfrm>
        </p:spPr>
        <p:txBody>
          <a:bodyPr>
            <a:normAutofit fontScale="90000"/>
          </a:bodyPr>
          <a:lstStyle/>
          <a:p>
            <a:pPr algn="just"/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Pre-Pruning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(Early Stopping): </a:t>
            </a:r>
            <a:endParaRPr lang="en-US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 stops the tree from growing once it meets certain conditions, such as reaching a maximum depth, minimum number of samples per leaf, or minimum information gain threshold. This prevents the tree from developing complex branches that might lead to overfitting.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 that the </a:t>
            </a:r>
            <a:r>
              <a:rPr lang="en-US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pre-pruning stops the growth early when further splitting does not improve the model significantly.</a:t>
            </a:r>
            <a:endParaRPr lang="en-US" alt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Pre-Pruning Is Needed</a:t>
            </a:r>
            <a:endParaRPr lang="en-US" altLang="en-US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tend to overfit if grown to their full depth, capturing even small fluctuations or noise in the training data. This results in:</a:t>
            </a:r>
            <a:endParaRPr lang="en-US" alt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bias but high variance.</a:t>
            </a:r>
            <a:endParaRPr lang="en-US" alt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generalization on unseen data.</a:t>
            </a:r>
            <a:endParaRPr lang="en-US" alt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Pre-pruning introduces stopping conditions to control tree growth and maintain a balance between bias and variance.</a:t>
            </a:r>
            <a:endParaRPr lang="en-US" alt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>
                <a:sym typeface="+mn-ea"/>
              </a:rPr>
              <a:t>Classification : Decision Tree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90156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1600" b="1">
                <a:sym typeface="+mn-ea"/>
              </a:rPr>
              <a:t>How Pre-Pruning Works</a:t>
            </a:r>
            <a:endParaRPr lang="en-US" sz="1600" b="1"/>
          </a:p>
          <a:p>
            <a:pPr algn="just"/>
            <a:r>
              <a:rPr lang="en-US" altLang="en-US" sz="1600"/>
              <a:t>During tree construction, the algorithm evaluates whether splitting a node improves the model’s performance enough to justify the added complexity. If not, the split is not performed, and the node becomes a leaf.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Common stopping criteria used for pre-pruning include:</a:t>
            </a:r>
            <a:endParaRPr lang="en-US" altLang="en-US" sz="1600"/>
          </a:p>
          <a:p>
            <a:endParaRPr lang="en-US" altLang="en-US" sz="1600"/>
          </a:p>
        </p:txBody>
      </p:sp>
      <p:graphicFrame>
        <p:nvGraphicFramePr>
          <p:cNvPr id="4" name="Table 3"/>
          <p:cNvGraphicFramePr/>
          <p:nvPr/>
        </p:nvGraphicFramePr>
        <p:xfrm>
          <a:off x="685800" y="3581400"/>
          <a:ext cx="7863840" cy="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0">
                <a:tc>
                  <a:txBody>
                    <a:bodyPr/>
                    <a:p>
                      <a:r>
                        <a:rPr sz="1100"/>
                        <a:t>Criterion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Description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/>
        </p:nvGraphicFramePr>
        <p:xfrm>
          <a:off x="685800" y="3749040"/>
          <a:ext cx="7863840" cy="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0">
                <a:tc>
                  <a:txBody>
                    <a:bodyPr/>
                    <a:p>
                      <a:r>
                        <a:rPr sz="1100"/>
                        <a:t>Minimum Information Gain / Gini Decrease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Stop if the reduction in impurity (entropy, Gini index, etc.) after splitting is below a certain threshold.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/>
          <p:nvPr/>
        </p:nvGraphicFramePr>
        <p:xfrm>
          <a:off x="685800" y="4084320"/>
          <a:ext cx="7863840" cy="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0">
                <a:tc>
                  <a:txBody>
                    <a:bodyPr/>
                    <a:p>
                      <a:r>
                        <a:rPr sz="1100"/>
                        <a:t>Maximum Tree Depth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Stop if the tree reaches a user-specified depth (e.g., 5 levels).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/>
        </p:nvGraphicFramePr>
        <p:xfrm>
          <a:off x="685800" y="4251960"/>
          <a:ext cx="7863840" cy="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0">
                <a:tc>
                  <a:txBody>
                    <a:bodyPr/>
                    <a:p>
                      <a:r>
                        <a:rPr sz="1100"/>
                        <a:t>Minimum Samples per Split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Stop if a node has fewer than a certain number of samples required to perform a split (e.g., 10).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/>
          <p:nvPr/>
        </p:nvGraphicFramePr>
        <p:xfrm>
          <a:off x="685800" y="4587240"/>
          <a:ext cx="7863840" cy="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0">
                <a:tc>
                  <a:txBody>
                    <a:bodyPr/>
                    <a:p>
                      <a:r>
                        <a:rPr sz="1100"/>
                        <a:t>Minimum Samples per Leaf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Stop if the resulting leaf nodes would contain fewer samples than a set threshold.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/>
          <p:nvPr/>
        </p:nvGraphicFramePr>
        <p:xfrm>
          <a:off x="685800" y="4922520"/>
          <a:ext cx="7863840" cy="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0">
                <a:tc>
                  <a:txBody>
                    <a:bodyPr/>
                    <a:p>
                      <a:r>
                        <a:rPr sz="1100"/>
                        <a:t>Chi-Square Test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Stop if the statistical significance of a potential split is too low (used in some algorithms like CHAID).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/>
          <p:nvPr/>
        </p:nvGraphicFramePr>
        <p:xfrm>
          <a:off x="685800" y="5257800"/>
          <a:ext cx="7863840" cy="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0">
                <a:tc>
                  <a:txBody>
                    <a:bodyPr/>
                    <a:p>
                      <a:r>
                        <a:rPr sz="1100"/>
                        <a:t>Validation Accuracy Check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Stop if splitting does not improve performance on a validation dataset.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>
                <a:sym typeface="+mn-ea"/>
              </a:rPr>
              <a:t>Classification : Decision Tree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 marL="0" indent="0" algn="just">
              <a:buNone/>
            </a:pPr>
            <a:r>
              <a:rPr lang="en-US" altLang="en-US" b="1">
                <a:sym typeface="+mn-ea"/>
              </a:rPr>
              <a:t>Pre-Pruning Example</a:t>
            </a:r>
            <a:endParaRPr lang="en-US" b="1"/>
          </a:p>
          <a:p>
            <a:pPr marL="0" indent="0" algn="just">
              <a:buNone/>
            </a:pPr>
            <a:endParaRPr lang="en-US" altLang="en-US"/>
          </a:p>
          <a:p>
            <a:pPr marL="0" indent="0" algn="just">
              <a:buNone/>
            </a:pPr>
            <a:r>
              <a:rPr lang="en-US" altLang="en-US"/>
              <a:t>Suppose a node has 100 training samples, and you’re using information gain as your splitting criterion:</a:t>
            </a:r>
            <a:endParaRPr lang="en-US" altLang="en-US"/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The algorithm evaluates all possible splits.</a:t>
            </a:r>
            <a:endParaRPr lang="en-US" altLang="en-US"/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If none of them produces an information gain greater than a small threshold (say, 0.01), it decides not to split further — that node becomes a leaf.</a:t>
            </a:r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>
                <a:sym typeface="+mn-ea"/>
              </a:rPr>
              <a:t>Classification : Decision Tree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ym typeface="+mn-ea"/>
              </a:rPr>
              <a:t>Advantages of Pre-Pruning</a:t>
            </a:r>
            <a:endParaRPr lang="en-US" altLang="en-US" b="1">
              <a:sym typeface="+mn-ea"/>
            </a:endParaRPr>
          </a:p>
          <a:p>
            <a:pPr marL="0" indent="0">
              <a:buNone/>
            </a:pPr>
            <a:r>
              <a:rPr lang="en-US" altLang="en-US"/>
              <a:t>✅ Reduces overfitting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✅ Speeds up the training process (smaller trees)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✅ Produces more interpretable models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✅ Requires less memory and computation</a:t>
            </a:r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>
                <a:sym typeface="+mn-ea"/>
              </a:rPr>
              <a:t>Classification : Decision Tree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ym typeface="+mn-ea"/>
              </a:rPr>
              <a:t>Disadvantages of Pre-Pruning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❌ Might stop too early, missing potentially useful splits that could improve accuracy later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❌ Choosing appropriate thresholds for stopping is non-trivial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❌ Less flexible than post-pruning — once stopped, the split cannot be recovered</a:t>
            </a:r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143000"/>
            <a:ext cx="7411085" cy="5538470"/>
          </a:xfrm>
        </p:spPr>
        <p:txBody>
          <a:bodyPr>
            <a:noAutofit/>
          </a:bodyPr>
          <a:lstStyle/>
          <a:p>
            <a:pPr algn="just"/>
            <a:r>
              <a:rPr lang="en-US" sz="3100" b="1" dirty="0" smtClean="0">
                <a:solidFill>
                  <a:schemeClr val="tx1"/>
                </a:solidFill>
                <a:cs typeface="+mn-lt"/>
              </a:rPr>
              <a:t>Post-Pruning </a:t>
            </a:r>
            <a:r>
              <a:rPr lang="en-US" sz="3100" b="1" dirty="0">
                <a:solidFill>
                  <a:schemeClr val="tx1"/>
                </a:solidFill>
                <a:cs typeface="+mn-lt"/>
              </a:rPr>
              <a:t>(Cost Complexity Pruning): </a:t>
            </a:r>
            <a:endParaRPr lang="en-US" sz="3100" b="1" dirty="0" smtClean="0">
              <a:solidFill>
                <a:schemeClr val="tx1"/>
              </a:solidFill>
              <a:cs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100" dirty="0" smtClean="0">
                <a:solidFill>
                  <a:schemeClr val="tx1"/>
                </a:solidFill>
                <a:cs typeface="+mn-lt"/>
              </a:rPr>
              <a:t>This </a:t>
            </a:r>
            <a:r>
              <a:rPr lang="en-US" sz="3100" dirty="0">
                <a:solidFill>
                  <a:schemeClr val="tx1"/>
                </a:solidFill>
                <a:cs typeface="+mn-lt"/>
              </a:rPr>
              <a:t>technique first grows the tree to its full depth, then prunes back branches that provide minimal value.</a:t>
            </a:r>
            <a:endParaRPr lang="en-US" sz="3100" dirty="0">
              <a:solidFill>
                <a:schemeClr val="tx1"/>
              </a:solidFill>
              <a:cs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100" dirty="0">
                <a:solidFill>
                  <a:schemeClr val="tx1"/>
                </a:solidFill>
                <a:cs typeface="+mn-lt"/>
              </a:rPr>
              <a:t>Post-pruning can be based on measures like cross-validation to determine the optimal structure that minimizes errors on new data.</a:t>
            </a:r>
            <a:endParaRPr lang="en-US" sz="3100" dirty="0">
              <a:solidFill>
                <a:schemeClr val="tx1"/>
              </a:solidFill>
              <a:cs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100" dirty="0">
                <a:solidFill>
                  <a:schemeClr val="tx1"/>
                </a:solidFill>
                <a:cs typeface="+mn-lt"/>
              </a:rPr>
              <a:t>This helps in reducing overfitting, improving interpretability, and enhancing model performance on test data.</a:t>
            </a:r>
            <a:endParaRPr lang="en-US" altLang="en-US" sz="3100" dirty="0">
              <a:solidFill>
                <a:schemeClr val="tx1"/>
              </a:solidFill>
              <a:cs typeface="+mn-lt"/>
            </a:endParaRPr>
          </a:p>
          <a:p>
            <a:pPr algn="just"/>
            <a:endParaRPr lang="en-US" altLang="en-US" sz="2700" dirty="0">
              <a:solidFill>
                <a:schemeClr val="tx1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Classification : Decision Tree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p>
            <a:pPr marL="0" indent="0">
              <a:buNone/>
            </a:pPr>
            <a:r>
              <a:rPr lang="en-US" altLang="en-US" sz="5600" b="1"/>
              <a:t>Why Post-Pruning Is Needed</a:t>
            </a:r>
            <a:endParaRPr lang="en-US" altLang="en-US" sz="5600" b="1"/>
          </a:p>
          <a:p>
            <a:pPr marL="0" indent="0">
              <a:buNone/>
            </a:pPr>
            <a:endParaRPr lang="en-US" altLang="en-US" b="1"/>
          </a:p>
          <a:p>
            <a:r>
              <a:rPr lang="en-US" altLang="en-US" sz="5335"/>
              <a:t>When a decision tree is grown to its maximum depth:</a:t>
            </a:r>
            <a:endParaRPr lang="en-US" altLang="en-US" sz="5335"/>
          </a:p>
          <a:p>
            <a:pPr algn="just"/>
            <a:r>
              <a:rPr lang="en-US" altLang="en-US" sz="5335"/>
              <a:t>It often becomes too specific to the training data.</a:t>
            </a:r>
            <a:endParaRPr lang="en-US" altLang="en-US" sz="5335"/>
          </a:p>
          <a:p>
            <a:pPr algn="just"/>
            <a:r>
              <a:rPr lang="en-US" altLang="en-US" sz="5335"/>
              <a:t>It may memorize noise and outliers.</a:t>
            </a:r>
            <a:endParaRPr lang="en-US" altLang="en-US" sz="5335"/>
          </a:p>
          <a:p>
            <a:pPr algn="just"/>
            <a:r>
              <a:rPr lang="en-US" altLang="en-US" sz="5335"/>
              <a:t>This leads to high variance and poor performance on unseen data.</a:t>
            </a:r>
            <a:endParaRPr lang="en-US" altLang="en-US" sz="5335"/>
          </a:p>
          <a:p>
            <a:pPr algn="just"/>
            <a:r>
              <a:rPr lang="en-US" altLang="en-US" sz="5335"/>
              <a:t>Post-pruning addresses this by trimming unimportant branches, producing a simpler, more generalizable tree.</a:t>
            </a:r>
            <a:endParaRPr lang="en-US" altLang="en-US" sz="5335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Classification : Decision Tree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3872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 b="1"/>
              <a:t>How Post-Pruning Works</a:t>
            </a:r>
            <a:endParaRPr lang="en-US" altLang="en-US" sz="2000" b="1"/>
          </a:p>
          <a:p>
            <a:endParaRPr lang="en-US" altLang="en-US" sz="2000"/>
          </a:p>
          <a:p>
            <a:r>
              <a:rPr lang="en-US" altLang="en-US" sz="2000"/>
              <a:t>Post-pruning involves two main stages:</a:t>
            </a:r>
            <a:endParaRPr lang="en-US" altLang="en-US" sz="2000"/>
          </a:p>
          <a:p>
            <a:r>
              <a:rPr lang="en-US" altLang="en-US" sz="2000"/>
              <a:t>Stage 1: Grow the Full Tree</a:t>
            </a:r>
            <a:endParaRPr lang="en-US" altLang="en-US" sz="2000"/>
          </a:p>
          <a:p>
            <a:r>
              <a:rPr lang="en-US" altLang="en-US" sz="2000"/>
              <a:t>The algorithm first builds a fully expanded tree without applying stopping conditions.</a:t>
            </a:r>
            <a:endParaRPr lang="en-US" altLang="en-US" sz="2000"/>
          </a:p>
          <a:p>
            <a:r>
              <a:rPr lang="en-US" altLang="en-US" sz="2000"/>
              <a:t>This ensures that all possible splits are considered.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Stage 2: Prune the Tree</a:t>
            </a:r>
            <a:endParaRPr lang="en-US" altLang="en-US" sz="2000"/>
          </a:p>
          <a:p>
            <a:r>
              <a:rPr lang="en-US" altLang="en-US" sz="2000"/>
              <a:t>Then, starting from the leaf nodes upward, the algorithm removes (or prunes) branches that provide little to no improvement to model performance.</a:t>
            </a:r>
            <a:endParaRPr lang="en-US" altLang="en-US" sz="2000"/>
          </a:p>
          <a:p>
            <a:r>
              <a:rPr lang="en-US" altLang="en-US" sz="2000"/>
              <a:t>The decision to prune is based on a cost-complexity trade-off: balancing tree size and accuracy.</a:t>
            </a:r>
            <a:endParaRPr lang="en-US" altLang="en-US"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Classification : Decision Tree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 b="1"/>
              <a:t>Example (Intuitive Explanation)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Imagine a fully grown decision tree classifying spam emails:</a:t>
            </a:r>
            <a:endParaRPr lang="en-US" altLang="en-US"/>
          </a:p>
          <a:p>
            <a:r>
              <a:rPr lang="en-US" altLang="en-US"/>
              <a:t>Some deep branches might classify very specific word combinations that appear in only one or two emails.</a:t>
            </a:r>
            <a:endParaRPr lang="en-US" altLang="en-US"/>
          </a:p>
          <a:p>
            <a:r>
              <a:rPr lang="en-US" altLang="en-US"/>
              <a:t>Post-pruning will evaluate whether removing those deep branches increases or decreases validation accuracy.</a:t>
            </a:r>
            <a:endParaRPr lang="en-US" altLang="en-US"/>
          </a:p>
          <a:p>
            <a:r>
              <a:rPr lang="en-US" altLang="en-US"/>
              <a:t>If removing them does not hurt (or even improves) performance, they are pruned.</a:t>
            </a:r>
            <a:endParaRPr lang="en-US" altLang="en-US"/>
          </a:p>
          <a:p>
            <a:r>
              <a:rPr lang="en-US" altLang="en-US"/>
              <a:t>The result is a smaller, more robust decision tree that focuses on the most significant patterns.</a:t>
            </a:r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Classification : Decision Tree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165" cy="452628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/>
              <a:t>Ad</a:t>
            </a:r>
            <a:r>
              <a:rPr lang="en-US" altLang="en-US" b="1"/>
              <a:t>vantages of Post-Pruning</a:t>
            </a:r>
            <a:endParaRPr lang="en-US" altLang="en-US" b="1"/>
          </a:p>
          <a:p>
            <a:pPr marL="0" indent="0">
              <a:buNone/>
            </a:pPr>
            <a:endParaRPr lang="en-US" altLang="en-US"/>
          </a:p>
          <a:p>
            <a:pPr marL="0" indent="0" algn="just">
              <a:buNone/>
            </a:pPr>
            <a:r>
              <a:rPr lang="en-US" altLang="en-US"/>
              <a:t>✅ Reduces overfitting and improves generalization.</a:t>
            </a:r>
            <a:endParaRPr lang="en-US" altLang="en-US"/>
          </a:p>
          <a:p>
            <a:pPr marL="0" indent="0" algn="just">
              <a:buNone/>
            </a:pPr>
            <a:r>
              <a:rPr lang="en-US" altLang="en-US"/>
              <a:t>✅ Produces simpler, more interpretable trees.</a:t>
            </a:r>
            <a:endParaRPr lang="en-US" altLang="en-US"/>
          </a:p>
          <a:p>
            <a:pPr marL="0" indent="0" algn="just">
              <a:buNone/>
            </a:pPr>
            <a:r>
              <a:rPr lang="en-US" altLang="en-US"/>
              <a:t>✅ Allows the model to initially learn all patterns, then eliminate noise-based branches.</a:t>
            </a:r>
            <a:endParaRPr lang="en-US" altLang="en-US"/>
          </a:p>
          <a:p>
            <a:pPr marL="0" indent="0" algn="just">
              <a:buNone/>
            </a:pPr>
            <a:r>
              <a:rPr lang="en-US" altLang="en-US"/>
              <a:t>✅ Data-driven pruning based on validation results ensures optimal balance.</a:t>
            </a:r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Classification : Decision Tree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/>
              <a:t>Disadvantages of Post-Pruning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❌ Requires extra computation, as pruning involves re-evaluating subtrees.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❌ Needs a validation set or cross-validation for effectiveness.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❌ Can be time-consuming for very large trees.</a:t>
            </a:r>
            <a:endParaRPr lang="en-US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Classification : Decision Tree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457200" y="16002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6735"/>
                <a:gridCol w="2828290"/>
                <a:gridCol w="358457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Aspect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Pre-Pruning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Post-Pruning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Timing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Stops tree growth early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Grows full tree first, then prunes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Computation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Less expensive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More computationally costly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Control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Prevents overfitting early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Corrects overfitting after it occurs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Risk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May underfit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More accurate but slower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Classification : Decision Tree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 algn="ctr">
              <a:buNone/>
            </a:pPr>
            <a:r>
              <a:rPr lang="en-US" altLang="en-US"/>
              <a:t>Thank you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13666</Words>
  <Application>WPS Presentation</Application>
  <PresentationFormat>On-screen Show (4:3)</PresentationFormat>
  <Paragraphs>424</Paragraphs>
  <Slides>40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14</vt:i4>
      </vt:variant>
      <vt:variant>
        <vt:lpstr>幻灯片标题</vt:lpstr>
      </vt:variant>
      <vt:variant>
        <vt:i4>40</vt:i4>
      </vt:variant>
    </vt:vector>
  </HeadingPairs>
  <TitlesOfParts>
    <vt:vector size="65" baseType="lpstr">
      <vt:lpstr>Arial</vt:lpstr>
      <vt:lpstr>SimSun</vt:lpstr>
      <vt:lpstr>Wingdings</vt:lpstr>
      <vt:lpstr>Times New Roman</vt:lpstr>
      <vt:lpstr>Cambria Math</vt:lpstr>
      <vt:lpstr>Cambria Math</vt:lpstr>
      <vt:lpstr>Microsoft YaHei</vt:lpstr>
      <vt:lpstr>Arial Unicode MS</vt:lpstr>
      <vt:lpstr>Calibri</vt:lpstr>
      <vt:lpstr>Wingdings</vt:lpstr>
      <vt:lpstr>Office Theme</vt:lpstr>
      <vt:lpstr>Excel.Sheet.8</vt:lpstr>
      <vt:lpstr>Excel.Sheet.8</vt:lpstr>
      <vt:lpstr>Excel.Sheet.8</vt:lpstr>
      <vt:lpstr>Excel.Sheet.8</vt:lpstr>
      <vt:lpstr>Excel.Sheet.8</vt:lpstr>
      <vt:lpstr>Equation.3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How Pre-Pruning Works</vt:lpstr>
      <vt:lpstr>Pre-Pruning Example</vt:lpstr>
      <vt:lpstr>Advantages of Pre-Pruning</vt:lpstr>
      <vt:lpstr>Disadvantages of Pre-Pruning</vt:lpstr>
      <vt:lpstr>Classification : Decision Tree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Ashraf</dc:creator>
  <cp:lastModifiedBy>Prof. Dr. Md. Asraf Ali</cp:lastModifiedBy>
  <cp:revision>390</cp:revision>
  <dcterms:created xsi:type="dcterms:W3CDTF">2024-10-19T07:49:00Z</dcterms:created>
  <dcterms:modified xsi:type="dcterms:W3CDTF">2025-10-28T03:58:30Z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34784591595B48829E35AB748FC3783A_12</vt:lpwstr>
  </property>
  <property fmtid="{D5CDD505-2E9C-101B-9397-08002B2CF9AE}" pid="3" name="KSOProductBuildVer">
    <vt:lpwstr>1033-12.2.0.23131</vt:lpwstr>
  </property>
</Properties>
</file>